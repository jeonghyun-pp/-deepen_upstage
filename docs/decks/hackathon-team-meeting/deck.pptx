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타이틀 슬라이드. 회의 동기 한 줄과 메타 4개. 디자인 변형 시 액센트 라인과 stat_grid value_color만 함께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Complication 슬라이드. 좌측 본문+타임라인+산출물 strip, 우측 가드라인 카드. 가드라인 3개는 직전 대화의 핵심 결론.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1. 좌상단 체인 시각화 → 좌하단 결정 카드 2개 → 우측 라벨링 약속 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2-a. 좌(surface)/우(accent) 대비로 부품 vs 차별점 시각적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2-b. T5가 데모 핵심이라 표에서 별표로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3. 6단계 시나리오 표 + 임팩트 체크리스트.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4. 4트랙 표 + 일정 카드 + 제출물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좌측 준비물 표 5행 + 우측 회의 직후 액션 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111760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DEEPEN × UPSTAGE HACKATHON · 팀 회의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1079500"/>
            <a:ext cx="1270000" cy="254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333500"/>
            <a:ext cx="11176000" cy="2286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5600" b="1" spc="-56">
                <a:solidFill>
                  <a:srgbClr val="0A0A0A"/>
                </a:solidFill>
                <a:latin typeface="Pretendard"/>
              </a:rPr>
              <a:t>해커톤 D-2 회의</a:t>
            </a:r>
          </a:p>
          <a:p>
            <a:pPr algn="l">
              <a:lnSpc>
                <a:spcPct val="130000"/>
              </a:lnSpc>
            </a:pPr>
            <a:r>
              <a:rPr sz="5600" b="1" spc="-56">
                <a:solidFill>
                  <a:srgbClr val="0A0A0A"/>
                </a:solidFill>
                <a:latin typeface="Pretendard"/>
              </a:rPr>
              <a:t>4개 결정을 오늘 픽스한다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810000"/>
            <a:ext cx="11176000" cy="381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525252"/>
                </a:solidFill>
                <a:latin typeface="Pretendard"/>
              </a:rPr>
              <a:t>2026-05-14 (목) · 90~120분 · 본행사 5/16까지 D-2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572000"/>
            <a:ext cx="2679700" cy="838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0" b="1" spc="-240">
                <a:solidFill>
                  <a:srgbClr val="0F62FE"/>
                </a:solidFill>
                <a:latin typeface="Pretendard"/>
              </a:rPr>
              <a:t>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543560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회의일 (목)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570865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오늘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0100" y="4572000"/>
            <a:ext cx="2679700" cy="8382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0" b="1" spc="-240">
                <a:solidFill>
                  <a:srgbClr val="0F62FE"/>
                </a:solidFill>
                <a:latin typeface="Pretendard"/>
              </a:rPr>
              <a:t>120분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0100" y="543560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예상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100" y="570865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8장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572000"/>
            <a:ext cx="2679700" cy="838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0" b="1" spc="-240">
                <a:solidFill>
                  <a:srgbClr val="0F62FE"/>
                </a:solidFill>
                <a:latin typeface="Pretendard"/>
              </a:rPr>
              <a:t>5인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543560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참여 인원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70865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팀 전원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4300" y="4572000"/>
            <a:ext cx="2679700" cy="838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0" b="1" spc="-240">
                <a:solidFill>
                  <a:srgbClr val="0F62FE"/>
                </a:solidFill>
                <a:latin typeface="Pretendard"/>
              </a:rPr>
              <a:t>4개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4300" y="543560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결정 산출물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4300" y="5708650"/>
            <a:ext cx="2679700" cy="2476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+ RNR 분배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6477000"/>
            <a:ext cx="11176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Deepen Team · 박정현 · 남건우 · 남궁현종 · 문형서 · 한원석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11176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WHY · 왜 이 회의가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지금 결정하지 않으면 5/16 본행사에서 무너진다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159000"/>
            <a:ext cx="6985000" cy="1270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1p 기획서는 제출됐다 (5/13). 그러나 검증 · 알고리즘 · UX · RNR이 모두 미확정이다. 이대로 빌드에 들어가면 5명이 다른 그림을 그린다.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556000"/>
            <a:ext cx="1631950" cy="6858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200" b="1" spc="-216">
                <a:solidFill>
                  <a:srgbClr val="0A0A0A"/>
                </a:solidFill>
                <a:latin typeface="Pretendard"/>
              </a:rPr>
              <a:t>5/13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2672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1p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44958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✓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2350" y="3556000"/>
            <a:ext cx="1631950" cy="6858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200" b="1" spc="-216">
                <a:solidFill>
                  <a:srgbClr val="0A0A0A"/>
                </a:solidFill>
                <a:latin typeface="Pretendard"/>
              </a:rPr>
              <a:t>5/14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2350" y="42672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오늘 회의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2350" y="44958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진행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700" y="3556000"/>
            <a:ext cx="1631950" cy="6858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200" b="1" spc="-216">
                <a:solidFill>
                  <a:srgbClr val="0A0A0A"/>
                </a:solidFill>
                <a:latin typeface="Pretendard"/>
              </a:rPr>
              <a:t>5/15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6700" y="42672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빌드 + 제출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6700" y="44958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23:59 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050" y="3556000"/>
            <a:ext cx="1631950" cy="6858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200" b="1" spc="-216">
                <a:solidFill>
                  <a:srgbClr val="0A0A0A"/>
                </a:solidFill>
                <a:latin typeface="Pretendard"/>
              </a:rPr>
              <a:t>5/16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050" y="42672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1" spc="70">
                <a:solidFill>
                  <a:srgbClr val="0A0A0A"/>
                </a:solidFill>
                <a:latin typeface="Pretendard"/>
              </a:rPr>
              <a:t>본행사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050" y="4495800"/>
            <a:ext cx="1631950" cy="2032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25252"/>
                </a:solidFill>
                <a:latin typeface="Pretendard"/>
              </a:rPr>
              <a:t>D-day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74000" y="2159000"/>
            <a:ext cx="3810000" cy="39370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0" y="2349500"/>
            <a:ext cx="33020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F62FE"/>
                </a:solidFill>
                <a:latin typeface="Pretendard"/>
              </a:rPr>
              <a:t>핵심 가드라인 3개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2730500"/>
            <a:ext cx="3302000" cy="3238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① LLM 교체 ≠ 알고리즘 교체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출력 형태와 작업 단위가 다르다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② Upstage 수치를 그대로 인용 X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자체 측정 수치만 슬라이드에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③ 데모 5분 = 평가의 절반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피어 투자가 평가의 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00" y="4826000"/>
            <a:ext cx="6985000" cy="1270000"/>
          </a:xfrm>
          <a:prstGeom prst="roundRect">
            <a:avLst>
              <a:gd name="adj" fmla="val 4000"/>
            </a:avLst>
          </a:prstGeom>
          <a:solidFill>
            <a:srgbClr val="0F62F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953000"/>
            <a:ext cx="6731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회의 산출물 4개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5207000"/>
            <a:ext cx="6731000" cy="825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①  고정 데이터셋 (Context 1 + 8문제)        ③  부스 시연 5분 시나리오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②  알고리즘 깊이 (Upstage 부품 vs 자체)     ④  RNR + 일정 (4트랙)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6477000"/>
            <a:ext cx="11176000" cy="127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Source: docs/hackathon-2026/plan-1p.md, upstage-mapping.md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6350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AGENDA 1 · 15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1000" y="603250"/>
            <a:ext cx="1143000" cy="279400"/>
          </a:xfrm>
          <a:prstGeom prst="roundRect">
            <a:avLst>
              <a:gd name="adj" fmla="val 909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결정 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교육과정 문서 1개 + 평가원·교육청 8문제로</a:t>
            </a:r>
          </a:p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데이터를 고정한다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159000"/>
            <a:ext cx="11176000" cy="825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특정 문제 / 문서 단위 측정으로 합의. 공공 출제물만 사용. prerequisite 체인이 명시된 단일 도메인으로 한정.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3048000"/>
            <a:ext cx="6985000" cy="11430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3175000"/>
            <a:ext cx="6731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PREREQUISITE 체인 · 1p 기획서의 그 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429000"/>
            <a:ext cx="6731000" cy="698500"/>
          </a:xfrm>
          <a:prstGeom prst="rect">
            <a:avLst/>
          </a:prstGeom>
          <a:noFill/>
        </p:spPr>
        <p:txBody>
          <a:bodyPr wrap="square" tIns="0" rIns="0" bIns="0" lIns="0" anchor="ctr">
            <a:normAutofit/>
          </a:bodyPr>
          <a:lstStyle/>
          <a:p>
            <a:pPr algn="l">
              <a:lnSpc>
                <a:spcPct val="150000"/>
              </a:lnSpc>
            </a:pPr>
            <a:r>
              <a:rPr sz="2200" b="1">
                <a:solidFill>
                  <a:srgbClr val="0A0A0A"/>
                </a:solidFill>
                <a:latin typeface="Pretendard"/>
              </a:rPr>
              <a:t>중3 판별식  →  고1 이차방정식  →  고1 이차함수  →  고2 곡선 밖 접선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4318000"/>
            <a:ext cx="3365500" cy="177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4445000"/>
            <a:ext cx="31115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결정 ① · CONTEXT 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4699000"/>
            <a:ext cx="3111500" cy="1333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A (추천)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2022 개정 수학과 교육과정 (NCIC)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B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EBSi 무료 공개 강의 자료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C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평가원 출제의도 · 해설집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7500" y="4318000"/>
            <a:ext cx="3365500" cy="177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4500" y="4445000"/>
            <a:ext cx="31115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결정 ② · 8문제 출처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4500" y="4699000"/>
            <a:ext cx="3111500" cy="1333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Q1-3   고1 교육청 (3·6·9·11월)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Q4-5   평가원 수1 · 미적분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Q6      평가원 수능 · TARGET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Q7      평가원 미적분 고난도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Q8      평가원 함수극한 (distractor)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4000" y="3048000"/>
            <a:ext cx="3810000" cy="3048000"/>
          </a:xfrm>
          <a:prstGeom prst="roundRect">
            <a:avLst>
              <a:gd name="adj" fmla="val 1666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0" y="3238500"/>
            <a:ext cx="33020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Pretendard"/>
              </a:rPr>
              <a:t>라벨링 약속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3619500"/>
            <a:ext cx="3302000" cy="2349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각 문제마다 1~2줄로 기록: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•  정답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•  필요한 prerequisite 노드 ID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     LEAF-1 · MID-2 · TARGET …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•  학생이 막힐 만한 지점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저장: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fixed-dataset.md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6477000"/>
            <a:ext cx="11176000" cy="127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출처: 평가원(kice.re.kr) · EBSi(ebsi.co.kr) · NCIC(ncic.re.kr) — 모두 공공저작물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6350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AGENDA 2-A · 30 MIN · 가장 큰 슬롯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1000" y="603250"/>
            <a:ext cx="1143000" cy="279400"/>
          </a:xfrm>
          <a:prstGeom prst="roundRect">
            <a:avLst>
              <a:gd name="adj" fmla="val 909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결정 3개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Upstage는 부품 — 차별점은</a:t>
            </a:r>
          </a:p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우리가 짜는 4개 알고리즘이다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159000"/>
            <a:ext cx="11176000" cy="825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Document Parse · Information Extract는 출력 형태와 작업 단위 자체가 다르다. 단순 endpoint 교체로는 절반도 못 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3048000"/>
            <a:ext cx="5397500" cy="3048000"/>
          </a:xfrm>
          <a:prstGeom prst="roundRect">
            <a:avLst>
              <a:gd name="adj" fmla="val 1666"/>
            </a:avLst>
          </a:prstGeom>
          <a:solidFill>
            <a:srgbClr val="F5F5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500" y="3206750"/>
            <a:ext cx="5080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🧩 UPSTAGE가 들어갈 곳 · 2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3492500"/>
            <a:ext cx="5080000" cy="2476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[P0]  Document Parse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      parse-pdf.ts:98 — unpdf 대체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      표·수식·도표 보존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[P0]  Information Extract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      extract-nodes.ts:14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      한국어 entity 추출 (스키마)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[옵션]  Upstage Embedding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         한국어 retrieval 개선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2500" y="3048000"/>
            <a:ext cx="5651500" cy="3048000"/>
          </a:xfrm>
          <a:prstGeom prst="roundRect">
            <a:avLst>
              <a:gd name="adj" fmla="val 1666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3000" y="3206750"/>
            <a:ext cx="5334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FFFFFF"/>
                </a:solidFill>
                <a:latin typeface="Pretendard"/>
              </a:rPr>
              <a:t>⚙️ 자체 알고리즘 · 차별점 (4개)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3492500"/>
            <a:ext cx="5334000" cy="2476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A1.  Layout-aware chunker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        표·수식 보존, heading 트리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A2.  2-stage prerequisite 엣지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        IE entity + Solar CoT 관계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A3.  결손 역추적 ★ 데모 핵심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        BFS → LLM scoring → top-K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A4.  Confidence 정책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FFFFFF"/>
                </a:solidFill>
                <a:latin typeface="Pretendard"/>
              </a:rPr>
              <a:t>        ≥0.7 / 0.4~0.7 / &lt;0.4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6477000"/>
            <a:ext cx="11176000" cy="127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오늘 결정: ① Upstage / 자체 경계선 · ② T5 의사코드 화이트보드 1장 · ③ chunking 단위 + confidence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6350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AGENDA 2-B · 20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1000" y="603250"/>
            <a:ext cx="1143000" cy="279400"/>
          </a:xfrm>
          <a:prstGeom prst="roundRect">
            <a:avLst>
              <a:gd name="adj" fmla="val 909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결정 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검증 PASS / FAIL 기준을 미리 정해야</a:t>
            </a:r>
          </a:p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fallback이 가능하다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159000"/>
            <a:ext cx="11176000" cy="825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이전 도메인 precision 수치는 노이즈. 8문제 셋으로 binary PASS/FAIL 7개만 본다. 실패 시 plan B를 회의에서 미리 픽스.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3111500"/>
          <a:ext cx="736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"/>
                <a:gridCol w="1473200"/>
                <a:gridCol w="1325880"/>
                <a:gridCol w="1620520"/>
                <a:gridCol w="2578100"/>
              </a:tblGrid>
              <a:tr h="381000"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#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테스트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Baseline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Upstage / 자체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PASS 기준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Context 파싱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unpdf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Document Parse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수식 LaTeX로 살아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Entity 추출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gpt-4o-mini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Information Extract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LEAF/MID/TARGET 다 존재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Prerequisite 엣지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A2 (자체)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핵심 엣지 4개 중 3개+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Chunk-mapping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placeholder []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Information Extract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Q6 → TARGET conf ≥ 0.7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결손 역추적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(없음)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A3 (자체)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Q6 오답 → LEAF-1 지목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Distractor 거부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(없음)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A3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Q8 → LEAF-1 잘못 지목 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T7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한국어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OpenAI emb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Upstage emb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recall@5 +5%p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28000" y="3111500"/>
            <a:ext cx="3556000" cy="3048000"/>
          </a:xfrm>
          <a:prstGeom prst="roundRect">
            <a:avLst>
              <a:gd name="adj" fmla="val 1666"/>
            </a:avLst>
          </a:prstGeom>
          <a:solidFill>
            <a:srgbClr val="DA1E28">
              <a:alpha val="8000"/>
            </a:srgbClr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8500" y="3270250"/>
            <a:ext cx="32385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DA1E28"/>
                </a:solidFill>
                <a:latin typeface="Pretendard"/>
              </a:rPr>
              <a:t>🚨 FALLBACK 시나리오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500" y="3651250"/>
            <a:ext cx="3238500" cy="24130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T1 FAIL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전략 전면 재검토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T2 FAIL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gpt-4o-mini 유지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Solar Pro 2를 리캡으로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T3 FAIL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GPT-4o 시도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그래도 안 되면 그래프 하드코딩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T5 FAIL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'결손 후보 top-3' UX로 약화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6477000"/>
            <a:ext cx="11176000" cy="127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D-1 오전 4시간 안에 T1~T5 측정. 결과는 docs/hackathon-2026/validation-2026-05-14.md에 binary로 기록.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6350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AGENDA 3 · 20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1000" y="603250"/>
            <a:ext cx="1143000" cy="279400"/>
          </a:xfrm>
          <a:prstGeom prst="roundRect">
            <a:avLst>
              <a:gd name="adj" fmla="val 909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결정 1개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심사위원이 보는 5분을</a:t>
            </a:r>
          </a:p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한 컷씩 픽스한다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159000"/>
            <a:ext cx="11176000" cy="825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피어 투자가 평가 50%. 슬라이드보다 만져볼 수 있는 데모가 표를 모은다. 화면별 owner와 인터랙션을 미리 합의.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3111500"/>
          <a:ext cx="736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957580"/>
                <a:gridCol w="1988820"/>
                <a:gridCol w="2651760"/>
                <a:gridCol w="1104900"/>
              </a:tblGrid>
              <a:tr h="435428"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시간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화면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입력 / 액션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시스템 응답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</a:rPr>
                        <a:t>Owner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435428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업로드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Context + 8문제 드래그앤드롭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분류 + 파싱 진행바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28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0:30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그래프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(자동)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Concept-Pattern-Item 30초 렌더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8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Q6 캔버스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펜으로 풀이 (오답)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LaTeX 단계 자동 인식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28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2:30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진단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(자동)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LEAF-1 (판별식) + 인용 하이라이트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알고리즘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8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리캡 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카드 클릭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2분짜리 한국어 리캡 + Q1 풀이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알고리즘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32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4:30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복귀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Q6 재시도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정답 + 그래프 highlight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400">
                          <a:solidFill>
                            <a:srgbClr val="0A0A0A"/>
                          </a:solidFill>
                          <a:latin typeface="Pretendard"/>
                        </a:rP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28000" y="3111500"/>
            <a:ext cx="3556000" cy="3048000"/>
          </a:xfrm>
          <a:prstGeom prst="roundRect">
            <a:avLst>
              <a:gd name="adj" fmla="val 1666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8500" y="3270250"/>
            <a:ext cx="32385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Pretendard"/>
              </a:rPr>
              <a:t>🎯 5분 안에 보여야 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500" y="3651250"/>
            <a:ext cx="3238500" cy="24130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① 30초 룰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업로드 후 30초 안에 그래프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② 인용 가시화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'진짜 결손' 카드에 형광 인용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③ 그래프 인터랙션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노드 클릭 → prereq 따라가기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④ 5분 후 재시작 버튼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부스 반복 시연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⑤ 노트북 1대 + 큰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6477000"/>
            <a:ext cx="11176000" cy="127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Source: 1p 기획서 '데모 시나리오 (5분)' + Business Track OT '만져볼 수 있는 데모' 가이드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6350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AGENDA 4 · 20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1000" y="603250"/>
            <a:ext cx="1143000" cy="279400"/>
          </a:xfrm>
          <a:prstGeom prst="roundRect">
            <a:avLst>
              <a:gd name="adj" fmla="val 909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결정 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4개 트랙으로 5명 × 남은 2일을</a:t>
            </a:r>
          </a:p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분배한다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159000"/>
            <a:ext cx="11176000" cy="825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D-1(금) 빌드 + 23:59 제출, D-day(토) 본행사. 트랙은 미리 그리고, 알고리즘 결정에 따라 인원을 옮긴다.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3111500"/>
          <a:ext cx="7366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520"/>
                <a:gridCol w="2946400"/>
                <a:gridCol w="957580"/>
                <a:gridCol w="1841500"/>
              </a:tblGrid>
              <a:tr h="431800"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트랙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작업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인원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의존성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4318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A. Backend / Upstage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Document Parse + IE wiring (T1 · T2)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1~2명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API 키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B. 알고리즘 (차별점)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A2 엣지 추출 + A3 결손 역추적 (T3·T5)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1~2명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A 트랙 출력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18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C. Frontend / 데모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6단계 화면 polish + tldraw 캔버스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시나리오 (s6)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D. 발표 / 측정 / 제출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피치 덱 + README + 1p PDF + GitHub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전 트랙 통합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28000" y="3111500"/>
            <a:ext cx="3556000" cy="2159000"/>
          </a:xfrm>
          <a:prstGeom prst="roundRect">
            <a:avLst>
              <a:gd name="adj" fmla="val 2352"/>
            </a:avLst>
          </a:prstGeom>
          <a:solidFill>
            <a:srgbClr val="F5F5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8500" y="3238500"/>
            <a:ext cx="32385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F62FE"/>
                </a:solidFill>
                <a:latin typeface="Pretendard"/>
              </a:rPr>
              <a:t>📅 남은 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500" y="3587750"/>
            <a:ext cx="3238500" cy="15875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5/14 (목) · 오늘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검증 4시간 (T1~T5)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5/15 (금)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PR 09:00 / 통합·리허설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23:59 장표·레포 제출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5/16 (토)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15:30 피치 7분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A0A0A"/>
                </a:solidFill>
                <a:latin typeface="Pretendard"/>
              </a:rPr>
              <a:t>   17:30 부스 데모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5429250"/>
            <a:ext cx="11176000" cy="825500"/>
          </a:xfrm>
          <a:prstGeom prst="roundRect">
            <a:avLst>
              <a:gd name="adj" fmla="val 6153"/>
            </a:avLst>
          </a:prstGeom>
          <a:solidFill>
            <a:srgbClr val="0F62F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556250"/>
            <a:ext cx="10922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📦 제출물 OWNER · 트랙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746750"/>
            <a:ext cx="10922000" cy="476250"/>
          </a:xfrm>
          <a:prstGeom prst="rect">
            <a:avLst/>
          </a:prstGeom>
          <a:noFill/>
        </p:spPr>
        <p:txBody>
          <a:bodyPr wrap="square" tIns="0" rIns="0" bIns="0" l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0A0A0A"/>
                </a:solidFill>
                <a:latin typeface="Pretendard"/>
              </a:rPr>
              <a:t>1p 기획서 PDF · 발표 장표 PDF (~10-12장) · GitHub README · 데모 자료 (QR · 데모 계정)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6477000"/>
            <a:ext cx="11176000" cy="127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마감: 5/15(금) 23:59 · 5/16(토) 15:30 피치 + 17:30 부스 데모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635000"/>
            <a:ext cx="11176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spc="195">
                <a:solidFill>
                  <a:srgbClr val="0F62FE"/>
                </a:solidFill>
                <a:latin typeface="Pretendard"/>
              </a:rPr>
              <a:t>CLOSING · 회의 전 / 회의 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52500"/>
            <a:ext cx="11176000" cy="1143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회의 전 5개 준비물 —</a:t>
            </a:r>
          </a:p>
          <a:p>
            <a:pPr algn="l">
              <a:lnSpc>
                <a:spcPct val="125000"/>
              </a:lnSpc>
            </a:pPr>
            <a:r>
              <a:rPr sz="3800" b="1" spc="-38">
                <a:solidFill>
                  <a:srgbClr val="0A0A0A"/>
                </a:solidFill>
                <a:latin typeface="Pretendard"/>
              </a:rPr>
              <a:t>안 가져오면 회의가 굴러가지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159000"/>
            <a:ext cx="11176000" cy="825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525252"/>
                </a:solidFill>
                <a:latin typeface="Pretendard"/>
              </a:rPr>
              <a:t>오늘 회의는 빌드 가능 상태로 끝내는 게 목표. Owner가 준비물을 못 가져오면 결정이 지연되고, D-2가 D-1.5가 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8000" y="3111500"/>
          <a:ext cx="736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"/>
                <a:gridCol w="3683000"/>
                <a:gridCol w="1473200"/>
                <a:gridCol w="1841500"/>
              </a:tblGrid>
              <a:tr h="508000"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#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Owner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 lIns="76200" rIns="76200" tIns="50800" bIns="508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산출물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508000">
                <a:tc>
                  <a:txBody>
                    <a:bodyPr lIns="76200" rIns="76200" tIns="38100" bIns="38100"/>
                    <a:lstStyle/>
                    <a:p>
                      <a:pPr algn="r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Context 문서 후보 PDF 3개 (NCIC · EBSi · 평가원)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노트북에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76200" rIns="76200" tIns="38100" bIns="38100"/>
                    <a:lstStyle/>
                    <a:p>
                      <a:pPr algn="r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8문제 후보 PDF 셋 (Q1~Q8)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평가원·교육청 발췌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 lIns="76200" rIns="76200" tIns="38100" bIns="38100"/>
                    <a:lstStyle/>
                    <a:p>
                      <a:pPr algn="r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현재 코드 4파일 현황 브리핑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코드 잘 아는 사람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각 1분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76200" rIns="76200" tIns="38100" bIns="38100"/>
                    <a:lstStyle/>
                    <a:p>
                      <a:pPr algn="r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Upstage API 키 (UPWAVE-YONSEI redeem)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1명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$80 잔액 확인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 lIns="76200" rIns="76200" tIns="38100" bIns="38100"/>
                    <a:lstStyle/>
                    <a:p>
                      <a:pPr algn="r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upstage-mapping.md 사전 읽기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pPr algn="l"/>
                      <a:r>
                        <a:rPr sz="1500">
                          <a:solidFill>
                            <a:srgbClr val="0A0A0A"/>
                          </a:solidFill>
                          <a:latin typeface="Pretendard"/>
                        </a:rPr>
                        <a:t>회의 전 10분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28000" y="3111500"/>
            <a:ext cx="3556000" cy="3048000"/>
          </a:xfrm>
          <a:prstGeom prst="roundRect">
            <a:avLst>
              <a:gd name="adj" fmla="val 1666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8500" y="3270250"/>
            <a:ext cx="3238500" cy="2540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Pretendard"/>
              </a:rPr>
              <a:t>🚀 회의 종료 직후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8500" y="3651250"/>
            <a:ext cx="3238500" cy="2413000"/>
          </a:xfrm>
          <a:prstGeom prst="rect">
            <a:avLst/>
          </a:prstGeom>
          <a:noFill/>
        </p:spPr>
        <p:txBody>
          <a:bodyPr wrap="square" tIns="0" rIns="0" bIns="0" l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① 4시간 검증 즉시 시작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T1 · T2 · T3 · T5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② 결과 binary 기록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validation-2026-05-14.md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③ PASS/FAIL 슬랙 공지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     fallback 발동 결정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④ 5/15 첫 PR 09:00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Pretendard"/>
              </a:rPr>
              <a:t>⑤ 5/15 21시 리허설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477000"/>
            <a:ext cx="11176000" cy="1905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25252"/>
                </a:solidFill>
                <a:latin typeface="Pretendard"/>
              </a:rPr>
              <a:t>Deepen × Upstage Hackathon · 2026-05-14 · 박정현 · 남건우 · 남궁현종 · 문형서 · 한원석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해커톤 D-2 팀 회의 아젠다</dc:title>
  <dc:subject/>
  <dc:creator>Deepen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